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a5b92dae-74d0-66a3-5390-50a6566dd621}">
          <p14:sldIdLst>
            <p14:sldId id="256"/>
          </p14:sldIdLst>
        </p14:section>
        <p14:section name="Modelagem" id="{d3a65ae3-e648-5869-3d96-a01113a155bb}">
          <p14:sldIdLst>
            <p14:sldId id="257"/>
            <p14:sldId id="258"/>
            <p14:sldId id="259"/>
          </p14:sldIdLst>
        </p14:section>
        <p14:section name="Demonstração" id="{234fb57f-489f-31f2-7019-d410f7f98294}">
          <p14:sldIdLst>
            <p14:sldId id="260"/>
            <p14:sldId id="261"/>
          </p14:sldIdLst>
        </p14:section>
        <p14:section name="Herança e polimorfismo" id="{5198754f-2f9a-468d-654f-bd0f64c8da0a}">
          <p14:sldIdLst>
            <p14:sldId id="262"/>
            <p14:sldId id="263"/>
          </p14:sldIdLst>
        </p14:section>
        <p14:section name="Encerramento" id="{85858dc9-fda9-8799-63c1-0e7a45dde666}">
          <p14:sldIdLst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Pessoa 1. Nosso tema é Adoção de Animais. É o backend de um abrigo: a equipe consulta os animais disponíveis, filtra por espécie e registra as adoções. Cada adoção tem uma taxa, que depende da espécie. Os dados vêm de mocks: 10 animais, 5 adotantes e 5 adoções já registradas. Seguimos a mesma arquitetura em camadas do KiOferta. Passo para a Pessoa 2, que vai falar das classes.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Pessoa 2. Usamos a estrutura que o professor pediu para todos os temas. A hierarquia é Animal, com Cao e Gato, porque a taxa, a descrição e a regra do quintal mudam conforme a espécie. A entidade principal é Adotante, que tem idade mínima e limite de adoções. Adocao é o registro que liga os dois.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Pessoa 2. Todos os atributos são protegidos, com sublinhado, e por isso aparecem com o sinal de cerquilha. Cao e Gato herdam de Animal, que é o triângulo vazio. Cada filha muda a constante TAXA_ADOCAO: 80 para cão e 50 para gato. Adocao se associa a Animal e a Adotante. As multiplicidades dizem que um animal tem no máximo uma adoção e um adotante tem até duas.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Pessoa 2. Adocao tem uma associação com Animal e com Adotante. No mock, a adoção guarda só os ids, como uma tabela de banco. A função carregar_adocoes, no fim do arquivo da model, procura os objetos por esses ids e guarda os objetos na Adocao. Com isso, a partir de uma adoção dá para pegar o nome do animal ou a taxa direto. Passo para a Pessoa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Pessoa 3. Agora a API rodando em localhost:8000/docs. A ordem importa, porque cada adoção muda os dados. Primeiro listo os disponíveis e filtro os gatos. Depois registro a adoção da Luna pelo Bruno: 201. Mando o mesmo pedido de novo: 409, porque ela já foi adotada. Tento a adoção do Thor, que é cão grande, pelo Diego, que não tem quintal: 422. A Elisa já tem duas adoções, então o pedido do Bolt dá 409. No fim, o relatório mostra 6 adoções e 390 reais.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Pessoa 4. Resumindo os códigos: 201 quando a adoção é criada, 404 quando o controller retorna None, 409 quando há conflito com o estado atual e 422 quando uma regra é violada. A conversão para HTTP acontece só na rota, com try e except. Como ConflitoError herda de ValueError, o except dele vem antes; se viesse depois, todo conflito viraria 422. Passo para a Pessoa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Pessoa 5. A herança está em animal.py. Cao e Gato herdam de Animal os atributos e as validações comuns. No Cao, verificar_adotante chama primeiro o super, que confere se o animal está disponível e se o adotante ainda pode adotar. Depois vem a regra própria do cão: porte grande exige quintal. Sem o super, essas duas verificações não valeriam para cães, e um cão poderia ser adotado duas vezes.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Pessoa 5. O polimorfismo aparece quando o controller chama mostrar_taxa, descricao ou verificar_adotante sem saber se o animal é cão ou gato: cada classe responde do seu jeito. O dicionário ESPECIES transforma o texto do mock na classe certa, então não precisamos de um if para cada espécie. Para uma quarta espécie, criamos a classe em animal.py, acrescentamos uma linha no dicionário e colocamos os dados no mock. Controller e rotas continuam iguais.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Pessoa 5. Para fechar: o verificar.py passa nas 42 checagens e o testar_rotas.py confirma todas as rotas. Obrigado, ficamos à disposição para perguntas.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B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197600"/>
            <a:ext cx="5080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</a:rPr>
              <a:t>Adoção de Animais · POO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812800" y="762000"/>
            <a:ext cx="10566400" cy="635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rgbClr val="1E2A3B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7569200" y="6197600"/>
            <a:ext cx="3810000" cy="279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200" dirty="0">
                <a:solidFill>
                  <a:srgbClr val="667085"/>
                </a:solidFill>
              </a:defRPr>
            </a:lvl1pPr>
          </a:lstStyle>
          <a:p>
            <a:pPr algn="r" indent="0" marL="0">
              <a:buNone/>
            </a:pP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Azul">
    <p:bg>
      <p:bgPr>
        <a:solidFill>
          <a:srgbClr val="EE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197600"/>
            <a:ext cx="5080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</a:rPr>
              <a:t>Adoção de Animais · POO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812800" y="762000"/>
            <a:ext cx="10566400" cy="635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rgbClr val="1E2A3B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7569200" y="6197600"/>
            <a:ext cx="3810000" cy="279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200" dirty="0">
                <a:solidFill>
                  <a:srgbClr val="667085"/>
                </a:solidFill>
              </a:defRPr>
            </a:lvl1pPr>
          </a:lstStyle>
          <a:p>
            <a:pPr algn="r" indent="0" marL="0">
              <a:buNone/>
            </a:pPr>
            <a:endParaRPr lang="en-US" sz="12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FB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197600"/>
            <a:ext cx="5080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</a:rPr>
              <a:t>Adoção de Animais · POO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812800" y="2032000"/>
            <a:ext cx="6604000" cy="18415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000" b="1" dirty="0">
                <a:solidFill>
                  <a:srgbClr val="1E2A3B"/>
                </a:solidFill>
              </a:defRPr>
            </a:lvl1pPr>
          </a:lstStyle>
          <a:p>
            <a:pPr algn="l" indent="0" marL="0">
              <a:buNone/>
            </a:pPr>
            <a:endParaRPr lang="en-US" sz="6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7569200" y="6197600"/>
            <a:ext cx="3810000" cy="279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200" dirty="0">
                <a:solidFill>
                  <a:srgbClr val="667085"/>
                </a:solidFill>
              </a:defRPr>
            </a:lvl1pPr>
          </a:lstStyle>
          <a:p>
            <a:pPr algn="r" indent="0" marL="0">
              <a:buNone/>
            </a:pPr>
            <a:endParaRPr lang="en-US" sz="12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nal">
    <p:bg>
      <p:bgPr>
        <a:solidFill>
          <a:srgbClr val="FFD9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197600"/>
            <a:ext cx="5080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4A12"/>
                </a:solidFill>
              </a:rPr>
              <a:t>Adoção de Animais · POO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812800" y="2413000"/>
            <a:ext cx="6604000" cy="9525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000" b="1" dirty="0">
                <a:solidFill>
                  <a:srgbClr val="1E2A3B"/>
                </a:solidFill>
              </a:defRPr>
            </a:lvl1pPr>
          </a:lstStyle>
          <a:p>
            <a:pPr algn="l" indent="0" marL="0">
              <a:buNone/>
            </a:pPr>
            <a:endParaRPr lang="en-US" sz="6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7569200" y="6197600"/>
            <a:ext cx="3810000" cy="279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200" dirty="0">
                <a:solidFill>
                  <a:srgbClr val="5C4A12"/>
                </a:solidFill>
              </a:defRPr>
            </a:lvl1pPr>
          </a:lstStyle>
          <a:p>
            <a:pPr algn="r" indent="0" marL="0">
              <a:buNone/>
            </a:pPr>
            <a:endParaRPr lang="en-US" sz="1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812800" y="2032000"/>
            <a:ext cx="66040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1E2A3B"/>
                </a:solidFill>
              </a:rPr>
              <a:t>Adoção de Animais</a:t>
            </a:r>
            <a:endParaRPr lang="en-US" sz="6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7569200" y="6197600"/>
            <a:ext cx="3810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67085"/>
                </a:solidFill>
              </a:rPr>
              <a:t>Abertura · 01</a:t>
            </a:r>
            <a:endParaRPr lang="en-US" sz="1200" dirty="0"/>
          </a:p>
        </p:txBody>
      </p:sp>
      <p:sp>
        <p:nvSpPr>
          <p:cNvPr id="5" name="anim|0|sobe|1"/>
          <p:cNvSpPr txBox="1"/>
          <p:nvPr/>
        </p:nvSpPr>
        <p:spPr>
          <a:xfrm>
            <a:off x="812800" y="1663700"/>
            <a:ext cx="660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45309"/>
                </a:solidFill>
              </a:rPr>
              <a:t>PROGRAMAÇÃO ORIENTADA A OBJETOS · PROVA EM GRUPO</a:t>
            </a:r>
            <a:endParaRPr lang="en-US" sz="1200" dirty="0"/>
          </a:p>
        </p:txBody>
      </p:sp>
      <p:sp>
        <p:nvSpPr>
          <p:cNvPr id="6" name="anim|2|sobe|2"/>
          <p:cNvSpPr txBox="1"/>
          <p:nvPr/>
        </p:nvSpPr>
        <p:spPr>
          <a:xfrm>
            <a:off x="812800" y="4191000"/>
            <a:ext cx="6350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4A5568"/>
                </a:solidFill>
              </a:rPr>
              <a:t>Backend em FastAPI para controlar as adoções de um abrigo de cães e gatos</a:t>
            </a:r>
            <a:endParaRPr lang="en-US" sz="2200" dirty="0"/>
          </a:p>
        </p:txBody>
      </p:sp>
      <p:pic>
        <p:nvPicPr>
          <p:cNvPr id="7" name="anim|3|zoom|3" descr="Rover, o cachorro amarelo, sentad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549400"/>
            <a:ext cx="2844800" cy="3454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812800" y="762000"/>
            <a:ext cx="105664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2A3B"/>
                </a:solidFill>
              </a:rPr>
              <a:t>Classes do sistema</a:t>
            </a:r>
            <a:endParaRPr lang="en-US" sz="36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7569200" y="6197600"/>
            <a:ext cx="3810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67085"/>
                </a:solidFill>
              </a:rPr>
              <a:t>Classes · 02</a:t>
            </a:r>
            <a:endParaRPr lang="en-US" sz="1200" dirty="0"/>
          </a:p>
        </p:txBody>
      </p:sp>
      <p:sp>
        <p:nvSpPr>
          <p:cNvPr id="5" name="anim|1|sobe|4"/>
          <p:cNvSpPr txBox="1"/>
          <p:nvPr/>
        </p:nvSpPr>
        <p:spPr>
          <a:xfrm>
            <a:off x="812800" y="1498600"/>
            <a:ext cx="105664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A5568"/>
                </a:solidFill>
              </a:rPr>
              <a:t>Seguimos a estrutura pedida no enunciado: uma entidade principal, uma hierarquia e um registro que liga as duas.</a:t>
            </a:r>
            <a:endParaRPr lang="en-US" sz="1600" dirty="0"/>
          </a:p>
        </p:txBody>
      </p:sp>
      <p:sp>
        <p:nvSpPr>
          <p:cNvPr id="6" name="anim|2|sobe|5"/>
          <p:cNvSpPr/>
          <p:nvPr/>
        </p:nvSpPr>
        <p:spPr>
          <a:xfrm>
            <a:off x="812800" y="2476500"/>
            <a:ext cx="3048000" cy="2794000"/>
          </a:xfrm>
          <a:prstGeom prst="roundRect">
            <a:avLst>
              <a:gd name="adj" fmla="val 4582"/>
            </a:avLst>
          </a:prstGeom>
          <a:solidFill>
            <a:srgbClr val="FFFDF8"/>
          </a:solidFill>
          <a:ln w="12700">
            <a:solidFill>
              <a:srgbClr val="E8DCC0"/>
            </a:solidFill>
          </a:ln>
        </p:spPr>
        <p:txBody>
          <a:bodyPr wrap="square" lIns="228600" tIns="228600" rIns="228600" bIns="22860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b="1" spc="200" kern="0" dirty="0">
                <a:solidFill>
                  <a:srgbClr val="B45309"/>
                </a:solidFill>
              </a:rPr>
              <a:t>HIERARQUIA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E2A3B"/>
                </a:solidFill>
              </a:rPr>
              <a:t>Animal → Cao, Gato</a:t>
            </a:r>
            <a:endParaRPr lang="en-US" sz="1200" dirty="0"/>
          </a:p>
          <a:p>
            <a:pPr indent="0" marL="0">
              <a:buNone/>
            </a:pPr>
            <a:r>
              <a:rPr lang="en-US" sz="1600" dirty="0">
                <a:solidFill>
                  <a:srgbClr val="4A5568"/>
                </a:solidFill>
              </a:rPr>
              <a:t>Cada espécie define a própria taxa e descrição. O cão grande exige quintal.</a:t>
            </a:r>
            <a:endParaRPr lang="en-US" sz="1200" dirty="0"/>
          </a:p>
        </p:txBody>
      </p:sp>
      <p:sp>
        <p:nvSpPr>
          <p:cNvPr id="7" name="anim|3|sobe|6"/>
          <p:cNvSpPr/>
          <p:nvPr/>
        </p:nvSpPr>
        <p:spPr>
          <a:xfrm>
            <a:off x="4572000" y="2476500"/>
            <a:ext cx="3048000" cy="2794000"/>
          </a:xfrm>
          <a:prstGeom prst="roundRect">
            <a:avLst>
              <a:gd name="adj" fmla="val 4582"/>
            </a:avLst>
          </a:prstGeom>
          <a:solidFill>
            <a:srgbClr val="FDE7B0"/>
          </a:solidFill>
          <a:ln w="12700">
            <a:solidFill>
              <a:srgbClr val="F2C25B"/>
            </a:solidFill>
          </a:ln>
        </p:spPr>
        <p:txBody>
          <a:bodyPr wrap="square" lIns="228600" tIns="228600" rIns="228600" bIns="22860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b="1" spc="200" kern="0" dirty="0">
                <a:solidFill>
                  <a:srgbClr val="8A3B06"/>
                </a:solidFill>
              </a:rPr>
              <a:t>REGISTRO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E2A3B"/>
                </a:solidFill>
              </a:rPr>
              <a:t>Adocao</a:t>
            </a:r>
            <a:endParaRPr lang="en-US" sz="1200" dirty="0"/>
          </a:p>
          <a:p>
            <a:pPr indent="0" marL="0">
              <a:buNone/>
            </a:pPr>
            <a:r>
              <a:rPr lang="en-US" sz="1600" dirty="0">
                <a:solidFill>
                  <a:srgbClr val="3D3424"/>
                </a:solidFill>
              </a:rPr>
              <a:t>Liga um animal a um adotante, com a data da adoção.</a:t>
            </a:r>
            <a:endParaRPr lang="en-US" sz="1200" dirty="0"/>
          </a:p>
        </p:txBody>
      </p:sp>
      <p:sp>
        <p:nvSpPr>
          <p:cNvPr id="8" name="anim|6|sobe|7"/>
          <p:cNvSpPr/>
          <p:nvPr/>
        </p:nvSpPr>
        <p:spPr>
          <a:xfrm>
            <a:off x="8331200" y="2476500"/>
            <a:ext cx="3048000" cy="2794000"/>
          </a:xfrm>
          <a:prstGeom prst="roundRect">
            <a:avLst>
              <a:gd name="adj" fmla="val 4582"/>
            </a:avLst>
          </a:prstGeom>
          <a:solidFill>
            <a:srgbClr val="FFFDF8"/>
          </a:solidFill>
          <a:ln w="12700">
            <a:solidFill>
              <a:srgbClr val="E8DCC0"/>
            </a:solidFill>
          </a:ln>
        </p:spPr>
        <p:txBody>
          <a:bodyPr wrap="square" lIns="228600" tIns="228600" rIns="228600" bIns="22860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b="1" spc="200" kern="0" dirty="0">
                <a:solidFill>
                  <a:srgbClr val="B45309"/>
                </a:solidFill>
              </a:rPr>
              <a:t>ENTIDADE PRINCIPAL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E2A3B"/>
                </a:solidFill>
              </a:rPr>
              <a:t>Adotante</a:t>
            </a:r>
            <a:endParaRPr lang="en-US" sz="1200" dirty="0"/>
          </a:p>
          <a:p>
            <a:pPr indent="0" marL="0">
              <a:buNone/>
            </a:pPr>
            <a:r>
              <a:rPr lang="en-US" sz="1600" dirty="0">
                <a:solidFill>
                  <a:srgbClr val="4A5568"/>
                </a:solidFill>
              </a:rPr>
              <a:t>Precisa ter 18 anos ou mais e pode fazer no máximo 2 adoções.</a:t>
            </a:r>
            <a:endParaRPr lang="en-US" sz="1200" dirty="0"/>
          </a:p>
        </p:txBody>
      </p:sp>
      <p:sp>
        <p:nvSpPr>
          <p:cNvPr id="9" name="anim|4|traco-esq|8"/>
          <p:cNvSpPr/>
          <p:nvPr/>
        </p:nvSpPr>
        <p:spPr>
          <a:xfrm>
            <a:off x="3962400" y="3873500"/>
            <a:ext cx="508000" cy="0"/>
          </a:xfrm>
          <a:prstGeom prst="line">
            <a:avLst/>
          </a:prstGeom>
          <a:noFill/>
          <a:ln w="38100">
            <a:solidFill>
              <a:srgbClr val="B45309"/>
            </a:solidFill>
            <a:prstDash val="solid"/>
            <a:headEnd type="triangle"/>
          </a:ln>
        </p:spPr>
      </p:sp>
      <p:sp>
        <p:nvSpPr>
          <p:cNvPr id="10" name="anim|5|traco-dir|9"/>
          <p:cNvSpPr/>
          <p:nvPr/>
        </p:nvSpPr>
        <p:spPr>
          <a:xfrm>
            <a:off x="7721600" y="3873500"/>
            <a:ext cx="508000" cy="0"/>
          </a:xfrm>
          <a:prstGeom prst="line">
            <a:avLst/>
          </a:prstGeom>
          <a:noFill/>
          <a:ln w="38100">
            <a:solidFill>
              <a:srgbClr val="B45309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812800" y="762000"/>
            <a:ext cx="105664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2A3B"/>
                </a:solidFill>
              </a:rPr>
              <a:t>Diagrama de classes</a:t>
            </a:r>
            <a:endParaRPr lang="en-US" sz="36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7569200" y="6197600"/>
            <a:ext cx="3810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67085"/>
                </a:solidFill>
              </a:rPr>
              <a:t>Diagrama · 03</a:t>
            </a:r>
            <a:endParaRPr lang="en-US" sz="1200" dirty="0"/>
          </a:p>
        </p:txBody>
      </p:sp>
      <p:sp>
        <p:nvSpPr>
          <p:cNvPr id="5" name="anim|1|aparece|10"/>
          <p:cNvSpPr/>
          <p:nvPr/>
        </p:nvSpPr>
        <p:spPr>
          <a:xfrm>
            <a:off x="812800" y="1651000"/>
            <a:ext cx="3302000" cy="1841500"/>
          </a:xfrm>
          <a:prstGeom prst="roundRect">
            <a:avLst>
              <a:gd name="adj" fmla="val 3972"/>
            </a:avLst>
          </a:prstGeom>
          <a:solidFill>
            <a:srgbClr val="FCFDFF"/>
          </a:solidFill>
          <a:ln w="12700">
            <a:solidFill>
              <a:srgbClr val="1E2A3B"/>
            </a:solidFill>
          </a:ln>
        </p:spPr>
        <p:txBody>
          <a:bodyPr wrap="square" lIns="114300" tIns="152400" rIns="152400" bIns="11430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1E2A3B"/>
                </a:solidFill>
              </a:rPr>
              <a:t>Animal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A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_id, _nome, _idade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A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_porte, _adotado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A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ESPECIE, TAXA_ADOCAO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A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descricao()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A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verificar_adotante()</a:t>
            </a:r>
            <a:endParaRPr lang="en-US" sz="1600" dirty="0"/>
          </a:p>
        </p:txBody>
      </p:sp>
      <p:sp>
        <p:nvSpPr>
          <p:cNvPr id="6" name="anim|1|aparece|11"/>
          <p:cNvSpPr/>
          <p:nvPr/>
        </p:nvSpPr>
        <p:spPr>
          <a:xfrm>
            <a:off x="965200" y="2032000"/>
            <a:ext cx="2997200" cy="0"/>
          </a:xfrm>
          <a:prstGeom prst="line">
            <a:avLst/>
          </a:prstGeom>
          <a:noFill/>
          <a:ln w="12700">
            <a:solidFill>
              <a:srgbClr val="C9D6E8"/>
            </a:solidFill>
            <a:prstDash val="solid"/>
          </a:ln>
        </p:spPr>
      </p:sp>
      <p:sp>
        <p:nvSpPr>
          <p:cNvPr id="7" name="anim|5|aparece|12"/>
          <p:cNvSpPr/>
          <p:nvPr/>
        </p:nvSpPr>
        <p:spPr>
          <a:xfrm>
            <a:off x="812800" y="4254500"/>
            <a:ext cx="2413000" cy="1270000"/>
          </a:xfrm>
          <a:prstGeom prst="roundRect">
            <a:avLst>
              <a:gd name="adj" fmla="val 5760"/>
            </a:avLst>
          </a:prstGeom>
          <a:solidFill>
            <a:srgbClr val="FCFDFF"/>
          </a:solidFill>
          <a:ln w="12700">
            <a:solidFill>
              <a:srgbClr val="1E2A3B"/>
            </a:solidFill>
          </a:ln>
        </p:spPr>
        <p:txBody>
          <a:bodyPr wrap="square" lIns="114300" tIns="152400" rIns="152400" bIns="11430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1E2A3B"/>
                </a:solidFill>
              </a:rPr>
              <a:t>Cao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A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TAXA_ADOCAO = 80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A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descricao()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A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verificar_adotante()</a:t>
            </a:r>
            <a:endParaRPr lang="en-US" sz="1600" dirty="0"/>
          </a:p>
        </p:txBody>
      </p:sp>
      <p:sp>
        <p:nvSpPr>
          <p:cNvPr id="8" name="anim|5|aparece|13"/>
          <p:cNvSpPr/>
          <p:nvPr/>
        </p:nvSpPr>
        <p:spPr>
          <a:xfrm>
            <a:off x="965200" y="4635500"/>
            <a:ext cx="2108200" cy="0"/>
          </a:xfrm>
          <a:prstGeom prst="line">
            <a:avLst/>
          </a:prstGeom>
          <a:noFill/>
          <a:ln w="12700">
            <a:solidFill>
              <a:srgbClr val="C9D6E8"/>
            </a:solidFill>
            <a:prstDash val="solid"/>
          </a:ln>
        </p:spPr>
      </p:sp>
      <p:sp>
        <p:nvSpPr>
          <p:cNvPr id="9" name="anim|5|aparece|14"/>
          <p:cNvSpPr/>
          <p:nvPr/>
        </p:nvSpPr>
        <p:spPr>
          <a:xfrm>
            <a:off x="3479800" y="4254500"/>
            <a:ext cx="2032000" cy="1079500"/>
          </a:xfrm>
          <a:prstGeom prst="roundRect">
            <a:avLst>
              <a:gd name="adj" fmla="val 6776"/>
            </a:avLst>
          </a:prstGeom>
          <a:solidFill>
            <a:srgbClr val="FCFDFF"/>
          </a:solidFill>
          <a:ln w="12700">
            <a:solidFill>
              <a:srgbClr val="1E2A3B"/>
            </a:solidFill>
          </a:ln>
        </p:spPr>
        <p:txBody>
          <a:bodyPr wrap="square" lIns="114300" tIns="152400" rIns="152400" bIns="11430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1E2A3B"/>
                </a:solidFill>
              </a:rPr>
              <a:t>Gato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A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TAXA_ADOCAO = 50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A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descricao()</a:t>
            </a:r>
            <a:endParaRPr lang="en-US" sz="1600" dirty="0"/>
          </a:p>
        </p:txBody>
      </p:sp>
      <p:sp>
        <p:nvSpPr>
          <p:cNvPr id="10" name="anim|5|aparece|15"/>
          <p:cNvSpPr/>
          <p:nvPr/>
        </p:nvSpPr>
        <p:spPr>
          <a:xfrm>
            <a:off x="3632200" y="4635500"/>
            <a:ext cx="1727200" cy="0"/>
          </a:xfrm>
          <a:prstGeom prst="line">
            <a:avLst/>
          </a:prstGeom>
          <a:noFill/>
          <a:ln w="12700">
            <a:solidFill>
              <a:srgbClr val="C9D6E8"/>
            </a:solidFill>
            <a:prstDash val="solid"/>
          </a:ln>
        </p:spPr>
      </p:sp>
      <p:sp>
        <p:nvSpPr>
          <p:cNvPr id="11" name="anim|6|aparece|16"/>
          <p:cNvSpPr/>
          <p:nvPr/>
        </p:nvSpPr>
        <p:spPr>
          <a:xfrm>
            <a:off x="5715000" y="1905000"/>
            <a:ext cx="2413000" cy="1968500"/>
          </a:xfrm>
          <a:prstGeom prst="roundRect">
            <a:avLst>
              <a:gd name="adj" fmla="val 3716"/>
            </a:avLst>
          </a:prstGeom>
          <a:solidFill>
            <a:srgbClr val="FFF6DC"/>
          </a:solidFill>
          <a:ln w="12700">
            <a:solidFill>
              <a:srgbClr val="1E2A3B"/>
            </a:solidFill>
          </a:ln>
        </p:spPr>
        <p:txBody>
          <a:bodyPr wrap="square" lIns="114300" tIns="152400" rIns="152400" bIns="11430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1E2A3B"/>
                </a:solidFill>
              </a:rPr>
              <a:t>Adocao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A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_id, _data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A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_animal: Animal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A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_adotante: Adotante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A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alterar_data()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A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valor_taxa()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A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e_do_adotante(id)</a:t>
            </a:r>
            <a:endParaRPr lang="en-US" sz="1600" dirty="0"/>
          </a:p>
        </p:txBody>
      </p:sp>
      <p:sp>
        <p:nvSpPr>
          <p:cNvPr id="12" name="anim|6|aparece|17"/>
          <p:cNvSpPr/>
          <p:nvPr/>
        </p:nvSpPr>
        <p:spPr>
          <a:xfrm>
            <a:off x="5867400" y="2286000"/>
            <a:ext cx="2108200" cy="0"/>
          </a:xfrm>
          <a:prstGeom prst="line">
            <a:avLst/>
          </a:prstGeom>
          <a:noFill/>
          <a:ln w="12700">
            <a:solidFill>
              <a:srgbClr val="E8D29A"/>
            </a:solidFill>
            <a:prstDash val="solid"/>
          </a:ln>
        </p:spPr>
      </p:sp>
      <p:sp>
        <p:nvSpPr>
          <p:cNvPr id="13" name="anim|9|aparece|18"/>
          <p:cNvSpPr/>
          <p:nvPr/>
        </p:nvSpPr>
        <p:spPr>
          <a:xfrm>
            <a:off x="8890000" y="1651000"/>
            <a:ext cx="2489200" cy="2159000"/>
          </a:xfrm>
          <a:prstGeom prst="roundRect">
            <a:avLst>
              <a:gd name="adj" fmla="val 3388"/>
            </a:avLst>
          </a:prstGeom>
          <a:solidFill>
            <a:srgbClr val="FCFDFF"/>
          </a:solidFill>
          <a:ln w="12700">
            <a:solidFill>
              <a:srgbClr val="1E2A3B"/>
            </a:solidFill>
          </a:ln>
        </p:spPr>
        <p:txBody>
          <a:bodyPr wrap="square" lIns="114300" tIns="152400" rIns="152400" bIns="11430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1E2A3B"/>
                </a:solidFill>
              </a:rPr>
              <a:t>Adotante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A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_id, _nome, _idade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A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_tem_quintal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A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_adocoes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A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IDADE_MINIMA = 18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A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MAX_ADOCOES = 2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A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pode_adotar()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A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registrar_adocao()</a:t>
            </a:r>
            <a:endParaRPr lang="en-US" sz="1600" dirty="0"/>
          </a:p>
        </p:txBody>
      </p:sp>
      <p:sp>
        <p:nvSpPr>
          <p:cNvPr id="14" name="anim|9|aparece|19"/>
          <p:cNvSpPr/>
          <p:nvPr/>
        </p:nvSpPr>
        <p:spPr>
          <a:xfrm>
            <a:off x="9042400" y="2032000"/>
            <a:ext cx="2184400" cy="0"/>
          </a:xfrm>
          <a:prstGeom prst="line">
            <a:avLst/>
          </a:prstGeom>
          <a:noFill/>
          <a:ln w="12700">
            <a:solidFill>
              <a:srgbClr val="C9D6E8"/>
            </a:solidFill>
            <a:prstDash val="solid"/>
          </a:ln>
        </p:spPr>
      </p:sp>
      <p:sp>
        <p:nvSpPr>
          <p:cNvPr id="15" name="anim|2|traco-baixo|20"/>
          <p:cNvSpPr/>
          <p:nvPr/>
        </p:nvSpPr>
        <p:spPr>
          <a:xfrm>
            <a:off x="2336800" y="3492500"/>
            <a:ext cx="254000" cy="203200"/>
          </a:xfrm>
          <a:prstGeom prst="triangle">
            <a:avLst/>
          </a:prstGeom>
          <a:solidFill>
            <a:srgbClr val="EEF4FB"/>
          </a:solidFill>
          <a:ln w="12700">
            <a:solidFill>
              <a:srgbClr val="1E2A3B"/>
            </a:solidFill>
            <a:prstDash val="solid"/>
          </a:ln>
        </p:spPr>
      </p:sp>
      <p:sp>
        <p:nvSpPr>
          <p:cNvPr id="16" name="anim|3|traco-baixo|21"/>
          <p:cNvSpPr/>
          <p:nvPr/>
        </p:nvSpPr>
        <p:spPr>
          <a:xfrm>
            <a:off x="2463800" y="3695700"/>
            <a:ext cx="0" cy="241300"/>
          </a:xfrm>
          <a:prstGeom prst="line">
            <a:avLst/>
          </a:prstGeom>
          <a:noFill/>
          <a:ln w="12700">
            <a:solidFill>
              <a:srgbClr val="1E2A3B"/>
            </a:solidFill>
            <a:prstDash val="solid"/>
          </a:ln>
        </p:spPr>
      </p:sp>
      <p:sp>
        <p:nvSpPr>
          <p:cNvPr id="17" name="anim|3.6|traco-esq|22"/>
          <p:cNvSpPr/>
          <p:nvPr/>
        </p:nvSpPr>
        <p:spPr>
          <a:xfrm>
            <a:off x="2019300" y="3937000"/>
            <a:ext cx="444500" cy="0"/>
          </a:xfrm>
          <a:prstGeom prst="line">
            <a:avLst/>
          </a:prstGeom>
          <a:noFill/>
          <a:ln w="12700">
            <a:solidFill>
              <a:srgbClr val="1E2A3B"/>
            </a:solidFill>
            <a:prstDash val="solid"/>
          </a:ln>
        </p:spPr>
      </p:sp>
      <p:sp>
        <p:nvSpPr>
          <p:cNvPr id="18" name="anim|3.6|traco-dir|23"/>
          <p:cNvSpPr/>
          <p:nvPr/>
        </p:nvSpPr>
        <p:spPr>
          <a:xfrm>
            <a:off x="2463800" y="3937000"/>
            <a:ext cx="2032000" cy="0"/>
          </a:xfrm>
          <a:prstGeom prst="line">
            <a:avLst/>
          </a:prstGeom>
          <a:noFill/>
          <a:ln w="12700">
            <a:solidFill>
              <a:srgbClr val="1E2A3B"/>
            </a:solidFill>
            <a:prstDash val="solid"/>
          </a:ln>
        </p:spPr>
      </p:sp>
      <p:sp>
        <p:nvSpPr>
          <p:cNvPr id="19" name="anim|4.2|traco-baixo|24"/>
          <p:cNvSpPr/>
          <p:nvPr/>
        </p:nvSpPr>
        <p:spPr>
          <a:xfrm>
            <a:off x="2019300" y="3937000"/>
            <a:ext cx="0" cy="317500"/>
          </a:xfrm>
          <a:prstGeom prst="line">
            <a:avLst/>
          </a:prstGeom>
          <a:noFill/>
          <a:ln w="12700">
            <a:solidFill>
              <a:srgbClr val="1E2A3B"/>
            </a:solidFill>
            <a:prstDash val="solid"/>
          </a:ln>
        </p:spPr>
      </p:sp>
      <p:sp>
        <p:nvSpPr>
          <p:cNvPr id="20" name="anim|4.2|traco-baixo|25"/>
          <p:cNvSpPr/>
          <p:nvPr/>
        </p:nvSpPr>
        <p:spPr>
          <a:xfrm>
            <a:off x="4495800" y="3937000"/>
            <a:ext cx="0" cy="317500"/>
          </a:xfrm>
          <a:prstGeom prst="line">
            <a:avLst/>
          </a:prstGeom>
          <a:noFill/>
          <a:ln w="12700">
            <a:solidFill>
              <a:srgbClr val="1E2A3B"/>
            </a:solidFill>
            <a:prstDash val="solid"/>
          </a:ln>
        </p:spPr>
      </p:sp>
      <p:sp>
        <p:nvSpPr>
          <p:cNvPr id="21" name="anim|7|traco-esq|26"/>
          <p:cNvSpPr/>
          <p:nvPr/>
        </p:nvSpPr>
        <p:spPr>
          <a:xfrm>
            <a:off x="4127500" y="2667000"/>
            <a:ext cx="1587500" cy="0"/>
          </a:xfrm>
          <a:prstGeom prst="line">
            <a:avLst/>
          </a:prstGeom>
          <a:noFill/>
          <a:ln w="12700">
            <a:solidFill>
              <a:srgbClr val="1E2A3B"/>
            </a:solidFill>
            <a:prstDash val="solid"/>
            <a:headEnd type="arrow"/>
          </a:ln>
        </p:spPr>
      </p:sp>
      <p:sp>
        <p:nvSpPr>
          <p:cNvPr id="22" name="anim|10|traco-dir|27"/>
          <p:cNvSpPr/>
          <p:nvPr/>
        </p:nvSpPr>
        <p:spPr>
          <a:xfrm>
            <a:off x="8128000" y="2667000"/>
            <a:ext cx="749300" cy="0"/>
          </a:xfrm>
          <a:prstGeom prst="line">
            <a:avLst/>
          </a:prstGeom>
          <a:noFill/>
          <a:ln w="12700">
            <a:solidFill>
              <a:srgbClr val="1E2A3B"/>
            </a:solidFill>
            <a:prstDash val="solid"/>
            <a:tailEnd type="arrow"/>
          </a:ln>
        </p:spPr>
      </p:sp>
      <p:sp>
        <p:nvSpPr>
          <p:cNvPr id="23" name="anim|8|aparece|28"/>
          <p:cNvSpPr txBox="1"/>
          <p:nvPr/>
        </p:nvSpPr>
        <p:spPr>
          <a:xfrm>
            <a:off x="4203700" y="2374900"/>
            <a:ext cx="25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A3B"/>
                </a:solidFill>
              </a:rPr>
              <a:t>1</a:t>
            </a:r>
            <a:endParaRPr lang="en-US" sz="1200" dirty="0"/>
          </a:p>
        </p:txBody>
      </p:sp>
      <p:sp>
        <p:nvSpPr>
          <p:cNvPr id="24" name="anim|8|aparece|29"/>
          <p:cNvSpPr txBox="1"/>
          <p:nvPr/>
        </p:nvSpPr>
        <p:spPr>
          <a:xfrm>
            <a:off x="5245100" y="2374900"/>
            <a:ext cx="444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A3B"/>
                </a:solidFill>
              </a:rPr>
              <a:t>0..1</a:t>
            </a:r>
            <a:endParaRPr lang="en-US" sz="1200" dirty="0"/>
          </a:p>
        </p:txBody>
      </p:sp>
      <p:sp>
        <p:nvSpPr>
          <p:cNvPr id="25" name="anim|8|aparece|30"/>
          <p:cNvSpPr txBox="1"/>
          <p:nvPr/>
        </p:nvSpPr>
        <p:spPr>
          <a:xfrm>
            <a:off x="4597400" y="2730500"/>
            <a:ext cx="76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A5568"/>
                </a:solidFill>
              </a:rPr>
              <a:t>adota</a:t>
            </a:r>
            <a:endParaRPr lang="en-US" sz="1200" dirty="0"/>
          </a:p>
        </p:txBody>
      </p:sp>
      <p:sp>
        <p:nvSpPr>
          <p:cNvPr id="26" name="anim|11|aparece|31"/>
          <p:cNvSpPr txBox="1"/>
          <p:nvPr/>
        </p:nvSpPr>
        <p:spPr>
          <a:xfrm>
            <a:off x="8166100" y="2374900"/>
            <a:ext cx="444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A3B"/>
                </a:solidFill>
              </a:rPr>
              <a:t>0..2</a:t>
            </a:r>
            <a:endParaRPr lang="en-US" sz="1200" dirty="0"/>
          </a:p>
        </p:txBody>
      </p:sp>
      <p:sp>
        <p:nvSpPr>
          <p:cNvPr id="27" name="anim|11|aparece|32"/>
          <p:cNvSpPr txBox="1"/>
          <p:nvPr/>
        </p:nvSpPr>
        <p:spPr>
          <a:xfrm>
            <a:off x="8724900" y="2374900"/>
            <a:ext cx="15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A3B"/>
                </a:solidFill>
              </a:rPr>
              <a:t>1</a:t>
            </a:r>
            <a:endParaRPr lang="en-US" sz="1200" dirty="0"/>
          </a:p>
        </p:txBody>
      </p:sp>
      <p:sp>
        <p:nvSpPr>
          <p:cNvPr id="28" name="anim|11|aparece|33"/>
          <p:cNvSpPr txBox="1"/>
          <p:nvPr/>
        </p:nvSpPr>
        <p:spPr>
          <a:xfrm>
            <a:off x="8166100" y="2730500"/>
            <a:ext cx="76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A5568"/>
                </a:solidFill>
              </a:rPr>
              <a:t>feita por</a:t>
            </a:r>
            <a:endParaRPr lang="en-US" sz="1200" dirty="0"/>
          </a:p>
        </p:txBody>
      </p:sp>
      <p:sp>
        <p:nvSpPr>
          <p:cNvPr id="29" name="anim|12|sobe|34"/>
          <p:cNvSpPr txBox="1"/>
          <p:nvPr/>
        </p:nvSpPr>
        <p:spPr>
          <a:xfrm>
            <a:off x="5715000" y="4699000"/>
            <a:ext cx="5664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A5568"/>
                </a:solidFill>
              </a:rPr>
              <a:t># </a:t>
            </a:r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protegido · </a:t>
            </a:r>
            <a:pPr indent="0" marL="0">
              <a:buNone/>
            </a:pPr>
            <a:r>
              <a:rPr lang="en-US" sz="1200" b="1" dirty="0">
                <a:solidFill>
                  <a:srgbClr val="4A5568"/>
                </a:solidFill>
              </a:rPr>
              <a:t>+ </a:t>
            </a:r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público · triângulo vazio = herança · seta = associação com multiplicidade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812800" y="762000"/>
            <a:ext cx="105664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2A3B"/>
                </a:solidFill>
              </a:rPr>
              <a:t>Associação</a:t>
            </a:r>
            <a:endParaRPr lang="en-US" sz="36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7569200" y="6197600"/>
            <a:ext cx="3810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67085"/>
                </a:solidFill>
              </a:rPr>
              <a:t>Associação · 04</a:t>
            </a:r>
            <a:endParaRPr lang="en-US" sz="1200" dirty="0"/>
          </a:p>
        </p:txBody>
      </p:sp>
      <p:sp>
        <p:nvSpPr>
          <p:cNvPr id="5" name="anim|1|sobe|35"/>
          <p:cNvSpPr/>
          <p:nvPr/>
        </p:nvSpPr>
        <p:spPr>
          <a:xfrm>
            <a:off x="812800" y="1841500"/>
            <a:ext cx="4064000" cy="1968500"/>
          </a:xfrm>
          <a:prstGeom prst="roundRect">
            <a:avLst>
              <a:gd name="adj" fmla="val 6503"/>
            </a:avLst>
          </a:prstGeom>
          <a:solidFill>
            <a:srgbClr val="F1E7D0"/>
          </a:solidFill>
          <a:ln/>
        </p:spPr>
        <p:txBody>
          <a:bodyPr wrap="square" lIns="228600" tIns="228600" rIns="228600" bIns="22860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8A3B06"/>
                </a:solidFill>
              </a:rPr>
              <a:t>No mock: só os ids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A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ADOCOES = [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A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{'id': 1, 'animal_id': 2,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A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'adotante_id': 1,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A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'data': '2026-09-12'},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A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200" dirty="0"/>
          </a:p>
        </p:txBody>
      </p:sp>
      <p:sp>
        <p:nvSpPr>
          <p:cNvPr id="6" name="anim|2|aparece|36"/>
          <p:cNvSpPr txBox="1"/>
          <p:nvPr/>
        </p:nvSpPr>
        <p:spPr>
          <a:xfrm>
            <a:off x="4927600" y="2540000"/>
            <a:ext cx="2336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carregar_adocoes()</a:t>
            </a:r>
            <a:endParaRPr lang="en-US" sz="1200" dirty="0"/>
          </a:p>
        </p:txBody>
      </p:sp>
      <p:sp>
        <p:nvSpPr>
          <p:cNvPr id="7" name="anim|3|traco-dir|37"/>
          <p:cNvSpPr/>
          <p:nvPr/>
        </p:nvSpPr>
        <p:spPr>
          <a:xfrm>
            <a:off x="5461000" y="2921000"/>
            <a:ext cx="1270000" cy="0"/>
          </a:xfrm>
          <a:prstGeom prst="line">
            <a:avLst/>
          </a:prstGeom>
          <a:noFill/>
          <a:ln w="38100">
            <a:solidFill>
              <a:srgbClr val="B45309"/>
            </a:solidFill>
            <a:prstDash val="solid"/>
            <a:tailEnd type="triangle"/>
          </a:ln>
        </p:spPr>
      </p:sp>
      <p:sp>
        <p:nvSpPr>
          <p:cNvPr id="8" name="anim|4|sobe|38"/>
          <p:cNvSpPr/>
          <p:nvPr/>
        </p:nvSpPr>
        <p:spPr>
          <a:xfrm>
            <a:off x="7315200" y="1841500"/>
            <a:ext cx="4064000" cy="1968500"/>
          </a:xfrm>
          <a:prstGeom prst="roundRect">
            <a:avLst>
              <a:gd name="adj" fmla="val 6503"/>
            </a:avLst>
          </a:prstGeom>
          <a:solidFill>
            <a:srgbClr val="FFFDF8"/>
          </a:solidFill>
          <a:ln w="12700">
            <a:solidFill>
              <a:srgbClr val="E8DCC0"/>
            </a:solidFill>
          </a:ln>
        </p:spPr>
        <p:txBody>
          <a:bodyPr wrap="square" lIns="228600" tIns="228600" rIns="228600" bIns="22860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1D5FD1"/>
                </a:solidFill>
              </a:rPr>
              <a:t>Na model: os objetos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A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adocao.mostrar_animal()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A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.mostrar_nome()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670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'Mel'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A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adocao.valor_taxa()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670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80.0</a:t>
            </a:r>
            <a:endParaRPr lang="en-US" sz="1200" dirty="0"/>
          </a:p>
        </p:txBody>
      </p:sp>
      <p:sp>
        <p:nvSpPr>
          <p:cNvPr id="9" name="anim|5|sobe|39"/>
          <p:cNvSpPr txBox="1"/>
          <p:nvPr/>
        </p:nvSpPr>
        <p:spPr>
          <a:xfrm>
            <a:off x="812800" y="4191000"/>
            <a:ext cx="105664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A5568"/>
                </a:solidFill>
              </a:rPr>
              <a:t>A função </a:t>
            </a:r>
            <a:pPr indent="0" marL="0">
              <a:buNone/>
            </a:pPr>
            <a:r>
              <a:rPr lang="en-US" sz="1600" b="1" dirty="0">
                <a:solidFill>
                  <a:srgbClr val="4A5568"/>
                </a:solidFill>
              </a:rPr>
              <a:t>carregar_adocoes()</a:t>
            </a:r>
            <a:pPr indent="0" marL="0">
              <a:buNone/>
            </a:pPr>
            <a:r>
              <a:rPr lang="en-US" sz="1600" dirty="0">
                <a:solidFill>
                  <a:srgbClr val="4A5568"/>
                </a:solidFill>
              </a:rPr>
              <a:t> busca o Animal e o Adotante pelos ids do mock e guarda os objetos dentro da Adocao.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812800" y="762000"/>
            <a:ext cx="105664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2A3B"/>
                </a:solidFill>
              </a:rPr>
              <a:t>Demonstração no /docs</a:t>
            </a:r>
            <a:endParaRPr lang="en-US" sz="36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7569200" y="6197600"/>
            <a:ext cx="3810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67085"/>
                </a:solidFill>
              </a:rPr>
              <a:t>Demonstração · 05</a:t>
            </a:r>
            <a:endParaRPr lang="en-US" sz="1200" dirty="0"/>
          </a:p>
        </p:txBody>
      </p:sp>
      <p:graphicFrame>
        <p:nvGraphicFramePr>
          <p:cNvPr id="6" name="anim|1|sobe|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587500"/>
          <a:ext cx="10566400" cy="914400"/>
        </p:xfrm>
        <a:graphic>
          <a:graphicData uri="http://schemas.openxmlformats.org/drawingml/2006/table">
            <a:tbl>
              <a:tblPr/>
              <a:tblGrid>
                <a:gridCol w="528320"/>
                <a:gridCol w="4015232"/>
                <a:gridCol w="2641600"/>
                <a:gridCol w="3381248"/>
              </a:tblGrid>
              <a:tr h="368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A3B"/>
                          </a:solidFill>
                        </a:rPr>
                        <a:t>#</a:t>
                      </a:r>
                      <a:endParaRPr lang="en-US" sz="1300" dirty="0"/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A3B"/>
                          </a:solidFill>
                        </a:rPr>
                        <a:t>Rota</a:t>
                      </a:r>
                      <a:endParaRPr lang="en-US" sz="1300" dirty="0"/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A3B"/>
                          </a:solidFill>
                        </a:rPr>
                        <a:t>Entrada</a:t>
                      </a:r>
                      <a:endParaRPr lang="en-US" sz="1300" dirty="0"/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A3B"/>
                          </a:solidFill>
                        </a:rPr>
                        <a:t>Resposta esperada</a:t>
                      </a:r>
                      <a:endParaRPr lang="en-US" sz="1300" dirty="0"/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F7"/>
                    </a:solidFill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A3B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A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 /api/animais/disponiveis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A3B"/>
                          </a:solidFill>
                        </a:rPr>
                        <a:t>nenhuma</a:t>
                      </a:r>
                      <a:endParaRPr lang="en-US" sz="1300" dirty="0"/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A3B"/>
                          </a:solidFill>
                        </a:rPr>
                        <a:t>200 · 5 animais</a:t>
                      </a:r>
                      <a:endParaRPr lang="en-US" sz="1300" dirty="0"/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A3B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A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 /api/animais/especie/gato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A3B"/>
                          </a:solidFill>
                        </a:rPr>
                        <a:t>gato</a:t>
                      </a:r>
                      <a:endParaRPr lang="en-US" sz="1300" dirty="0"/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A3B"/>
                          </a:solidFill>
                        </a:rPr>
                        <a:t>200 · 5 gatos</a:t>
                      </a:r>
                      <a:endParaRPr lang="en-US" sz="1300" dirty="0"/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F"/>
                    </a:solidFill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A3B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A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POST /api/adocoes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A3B"/>
                          </a:solidFill>
                        </a:rPr>
                        <a:t>animal 3, adotante 2</a:t>
                      </a:r>
                      <a:endParaRPr lang="en-US" sz="1300" dirty="0"/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A3B"/>
                          </a:solidFill>
                        </a:rPr>
                        <a:t>201 · Luna para o Bruno</a:t>
                      </a:r>
                      <a:endParaRPr lang="en-US" sz="1300" dirty="0"/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A3B"/>
                          </a:solidFill>
                        </a:rPr>
                        <a:t>4</a:t>
                      </a:r>
                      <a:endParaRPr lang="en-US" sz="1300" dirty="0"/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A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POST /api/adocoes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A3B"/>
                          </a:solidFill>
                        </a:rPr>
                        <a:t>o mesmo de novo</a:t>
                      </a:r>
                      <a:endParaRPr lang="en-US" sz="1300" dirty="0"/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A3B"/>
                          </a:solidFill>
                        </a:rPr>
                        <a:t>409 · animal já adotado</a:t>
                      </a:r>
                      <a:endParaRPr lang="en-US" sz="1300" dirty="0"/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F"/>
                    </a:solidFill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A3B"/>
                          </a:solidFill>
                        </a:rPr>
                        <a:t>5</a:t>
                      </a:r>
                      <a:endParaRPr lang="en-US" sz="1300" dirty="0"/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A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POST /api/adocoes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A3B"/>
                          </a:solidFill>
                        </a:rPr>
                        <a:t>animal 1, adotante 4</a:t>
                      </a:r>
                      <a:endParaRPr lang="en-US" sz="1300" dirty="0"/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A3B"/>
                          </a:solidFill>
                        </a:rPr>
                        <a:t>422 · cão grande sem quintal</a:t>
                      </a:r>
                      <a:endParaRPr lang="en-US" sz="1300" dirty="0"/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A3B"/>
                          </a:solidFill>
                        </a:rPr>
                        <a:t>6</a:t>
                      </a:r>
                      <a:endParaRPr lang="en-US" sz="1300" dirty="0"/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A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POST /api/adocoes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A3B"/>
                          </a:solidFill>
                        </a:rPr>
                        <a:t>animal 5, adotante 5</a:t>
                      </a:r>
                      <a:endParaRPr lang="en-US" sz="1300" dirty="0"/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A3B"/>
                          </a:solidFill>
                        </a:rPr>
                        <a:t>409 · limite de adoções</a:t>
                      </a:r>
                      <a:endParaRPr lang="en-US" sz="1300" dirty="0"/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F"/>
                    </a:solidFill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A3B"/>
                          </a:solidFill>
                        </a:rPr>
                        <a:t>7</a:t>
                      </a:r>
                      <a:endParaRPr lang="en-US" sz="1300" dirty="0"/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A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 /api/relatorio/taxas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A3B"/>
                          </a:solidFill>
                        </a:rPr>
                        <a:t>nenhuma</a:t>
                      </a:r>
                      <a:endParaRPr lang="en-US" sz="1300" dirty="0"/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A3B"/>
                          </a:solidFill>
                        </a:rPr>
                        <a:t>200 · 6 adoções, R$ 390</a:t>
                      </a:r>
                      <a:endParaRPr lang="en-US" sz="1300" dirty="0"/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</a:tr>
            </a:tbl>
          </a:graphicData>
        </a:graphic>
      </p:graphicFrame>
      <p:sp>
        <p:nvSpPr>
          <p:cNvPr id="6" name="anim|2|sobe|41"/>
          <p:cNvSpPr txBox="1"/>
          <p:nvPr/>
        </p:nvSpPr>
        <p:spPr>
          <a:xfrm>
            <a:off x="812800" y="4826000"/>
            <a:ext cx="10566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Em cada rota: </a:t>
            </a:r>
            <a:pPr indent="0" marL="0">
              <a:buNone/>
            </a:pPr>
            <a:r>
              <a:rPr lang="en-US" sz="1200" b="1" dirty="0">
                <a:solidFill>
                  <a:srgbClr val="4A5568"/>
                </a:solidFill>
              </a:rPr>
              <a:t>Try it out</a:t>
            </a:r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, preencher os campos e </a:t>
            </a:r>
            <a:pPr indent="0" marL="0">
              <a:buNone/>
            </a:pPr>
            <a:r>
              <a:rPr lang="en-US" sz="1200" b="1" dirty="0">
                <a:solidFill>
                  <a:srgbClr val="4A5568"/>
                </a:solidFill>
              </a:rPr>
              <a:t>Execute</a:t>
            </a:r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. Os dados ficam em memória e voltam ao estado inicial quando o servidor reinicia.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812800" y="762000"/>
            <a:ext cx="105664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2A3B"/>
                </a:solidFill>
              </a:rPr>
              <a:t>Códigos de resposta</a:t>
            </a:r>
            <a:endParaRPr lang="en-US" sz="36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7569200" y="6197600"/>
            <a:ext cx="3810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67085"/>
                </a:solidFill>
              </a:rPr>
              <a:t>Códigos HTTP · 06</a:t>
            </a:r>
            <a:endParaRPr lang="en-US" sz="1200" dirty="0"/>
          </a:p>
        </p:txBody>
      </p:sp>
      <p:sp>
        <p:nvSpPr>
          <p:cNvPr id="5" name="anim|1|zoom|42"/>
          <p:cNvSpPr/>
          <p:nvPr/>
        </p:nvSpPr>
        <p:spPr>
          <a:xfrm>
            <a:off x="812800" y="1587500"/>
            <a:ext cx="2489200" cy="1905000"/>
          </a:xfrm>
          <a:prstGeom prst="roundRect">
            <a:avLst>
              <a:gd name="adj" fmla="val 6720"/>
            </a:avLst>
          </a:prstGeom>
          <a:solidFill>
            <a:srgbClr val="DCE8F7"/>
          </a:solidFill>
          <a:ln/>
        </p:spPr>
        <p:txBody>
          <a:bodyPr wrap="square" lIns="254000" tIns="254000" rIns="254000" bIns="25400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3600" b="1" dirty="0">
                <a:solidFill>
                  <a:srgbClr val="1D5FD1"/>
                </a:solidFill>
              </a:rPr>
              <a:t>201</a:t>
            </a:r>
            <a:endParaRPr lang="en-US" sz="3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E2A3B"/>
                </a:solidFill>
              </a:rPr>
              <a:t>Criado</a:t>
            </a:r>
            <a:endParaRPr lang="en-US" sz="3600" dirty="0"/>
          </a:p>
          <a:p>
            <a:pPr indent="0" marL="0">
              <a:buNone/>
            </a:pPr>
            <a:r>
              <a:rPr lang="en-US" sz="1200" dirty="0">
                <a:solidFill>
                  <a:srgbClr val="33415C"/>
                </a:solidFill>
              </a:rPr>
              <a:t>Adoção registrada.</a:t>
            </a:r>
            <a:endParaRPr lang="en-US" sz="3600" dirty="0"/>
          </a:p>
        </p:txBody>
      </p:sp>
      <p:sp>
        <p:nvSpPr>
          <p:cNvPr id="6" name="anim|2|zoom|43"/>
          <p:cNvSpPr/>
          <p:nvPr/>
        </p:nvSpPr>
        <p:spPr>
          <a:xfrm>
            <a:off x="3505200" y="1587500"/>
            <a:ext cx="2489200" cy="1905000"/>
          </a:xfrm>
          <a:prstGeom prst="roundRect">
            <a:avLst>
              <a:gd name="adj" fmla="val 6720"/>
            </a:avLst>
          </a:prstGeom>
          <a:solidFill>
            <a:srgbClr val="FFFDF8"/>
          </a:solidFill>
          <a:ln w="12700">
            <a:solidFill>
              <a:srgbClr val="E8DCC0"/>
            </a:solidFill>
          </a:ln>
        </p:spPr>
        <p:txBody>
          <a:bodyPr wrap="square" lIns="254000" tIns="254000" rIns="254000" bIns="25400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3600" b="1" dirty="0">
                <a:solidFill>
                  <a:srgbClr val="B45309"/>
                </a:solidFill>
              </a:rPr>
              <a:t>404</a:t>
            </a:r>
            <a:endParaRPr lang="en-US" sz="3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E2A3B"/>
                </a:solidFill>
              </a:rPr>
              <a:t>Não encontrado</a:t>
            </a:r>
            <a:endParaRPr lang="en-US" sz="36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Animal ou adotante inexistente. O controller retornou None.</a:t>
            </a:r>
            <a:endParaRPr lang="en-US" sz="3600" dirty="0"/>
          </a:p>
        </p:txBody>
      </p:sp>
      <p:sp>
        <p:nvSpPr>
          <p:cNvPr id="7" name="anim|3|zoom|44"/>
          <p:cNvSpPr/>
          <p:nvPr/>
        </p:nvSpPr>
        <p:spPr>
          <a:xfrm>
            <a:off x="6197600" y="1587500"/>
            <a:ext cx="2489200" cy="1905000"/>
          </a:xfrm>
          <a:prstGeom prst="roundRect">
            <a:avLst>
              <a:gd name="adj" fmla="val 6720"/>
            </a:avLst>
          </a:prstGeom>
          <a:solidFill>
            <a:srgbClr val="FFFDF8"/>
          </a:solidFill>
          <a:ln w="12700">
            <a:solidFill>
              <a:srgbClr val="E8DCC0"/>
            </a:solidFill>
          </a:ln>
        </p:spPr>
        <p:txBody>
          <a:bodyPr wrap="square" lIns="254000" tIns="254000" rIns="254000" bIns="25400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3600" b="1" dirty="0">
                <a:solidFill>
                  <a:srgbClr val="B45309"/>
                </a:solidFill>
              </a:rPr>
              <a:t>409</a:t>
            </a:r>
            <a:endParaRPr lang="en-US" sz="3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E2A3B"/>
                </a:solidFill>
              </a:rPr>
              <a:t>Conflito</a:t>
            </a:r>
            <a:endParaRPr lang="en-US" sz="36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Animal já adotado ou adotante com 2 adoções.</a:t>
            </a:r>
            <a:endParaRPr lang="en-US" sz="3600" dirty="0"/>
          </a:p>
        </p:txBody>
      </p:sp>
      <p:sp>
        <p:nvSpPr>
          <p:cNvPr id="8" name="anim|4|zoom|45"/>
          <p:cNvSpPr/>
          <p:nvPr/>
        </p:nvSpPr>
        <p:spPr>
          <a:xfrm>
            <a:off x="8890000" y="1587500"/>
            <a:ext cx="2489200" cy="1905000"/>
          </a:xfrm>
          <a:prstGeom prst="roundRect">
            <a:avLst>
              <a:gd name="adj" fmla="val 6720"/>
            </a:avLst>
          </a:prstGeom>
          <a:solidFill>
            <a:srgbClr val="FFFDF8"/>
          </a:solidFill>
          <a:ln w="12700">
            <a:solidFill>
              <a:srgbClr val="E8DCC0"/>
            </a:solidFill>
          </a:ln>
        </p:spPr>
        <p:txBody>
          <a:bodyPr wrap="square" lIns="254000" tIns="254000" rIns="254000" bIns="25400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3600" b="1" dirty="0">
                <a:solidFill>
                  <a:srgbClr val="B45309"/>
                </a:solidFill>
              </a:rPr>
              <a:t>422</a:t>
            </a:r>
            <a:endParaRPr lang="en-US" sz="3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E2A3B"/>
                </a:solidFill>
              </a:rPr>
              <a:t>Regra violada</a:t>
            </a:r>
            <a:endParaRPr lang="en-US" sz="36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Cão grande sem quintal ou data vazia.</a:t>
            </a:r>
            <a:endParaRPr lang="en-US" sz="3600" dirty="0"/>
          </a:p>
        </p:txBody>
      </p:sp>
      <p:sp>
        <p:nvSpPr>
          <p:cNvPr id="9" name="anim|5|sobe|46"/>
          <p:cNvSpPr/>
          <p:nvPr/>
        </p:nvSpPr>
        <p:spPr>
          <a:xfrm>
            <a:off x="812800" y="3810000"/>
            <a:ext cx="6350000" cy="1714500"/>
          </a:xfrm>
          <a:prstGeom prst="roundRect">
            <a:avLst>
              <a:gd name="adj" fmla="val 7467"/>
            </a:avLst>
          </a:prstGeom>
          <a:solidFill>
            <a:srgbClr val="F1E7D0"/>
          </a:solidFill>
          <a:ln/>
        </p:spPr>
        <p:txBody>
          <a:bodyPr wrap="square" lIns="203200" tIns="304800" rIns="304800" bIns="20320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A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try: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A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adocao = controller.registrar(...)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A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 ConflitoError as erro: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A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raise HTTPException(409, str(erro))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A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 ValueError as erro: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A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raise HTTPException(422, str(erro))</a:t>
            </a:r>
            <a:endParaRPr lang="en-US" sz="1200" dirty="0"/>
          </a:p>
        </p:txBody>
      </p:sp>
      <p:sp>
        <p:nvSpPr>
          <p:cNvPr id="10" name="anim|6|sobe|47"/>
          <p:cNvSpPr txBox="1"/>
          <p:nvPr/>
        </p:nvSpPr>
        <p:spPr>
          <a:xfrm>
            <a:off x="7467600" y="4191000"/>
            <a:ext cx="39116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A5568"/>
                </a:solidFill>
              </a:rPr>
              <a:t>Como </a:t>
            </a:r>
            <a:pPr indent="0" marL="0">
              <a:buNone/>
            </a:pPr>
            <a:r>
              <a:rPr lang="en-US" sz="1600" b="1" dirty="0">
                <a:solidFill>
                  <a:srgbClr val="4A5568"/>
                </a:solidFill>
              </a:rPr>
              <a:t>ConflitoError</a:t>
            </a:r>
            <a:pPr indent="0" marL="0">
              <a:buNone/>
            </a:pPr>
            <a:r>
              <a:rPr lang="en-US" sz="1600" dirty="0">
                <a:solidFill>
                  <a:srgbClr val="4A5568"/>
                </a:solidFill>
              </a:rPr>
              <a:t> herda de </a:t>
            </a:r>
            <a:pPr indent="0" marL="0">
              <a:buNone/>
            </a:pPr>
            <a:r>
              <a:rPr lang="en-US" sz="1600" b="1" dirty="0">
                <a:solidFill>
                  <a:srgbClr val="4A5568"/>
                </a:solidFill>
              </a:rPr>
              <a:t>ValueError</a:t>
            </a:r>
            <a:pPr indent="0" marL="0">
              <a:buNone/>
            </a:pPr>
            <a:r>
              <a:rPr lang="en-US" sz="1600" dirty="0">
                <a:solidFill>
                  <a:srgbClr val="4A5568"/>
                </a:solidFill>
              </a:rPr>
              <a:t>, o except dele precisa vir antes.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812800" y="762000"/>
            <a:ext cx="105664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2A3B"/>
                </a:solidFill>
              </a:rPr>
              <a:t>Herança</a:t>
            </a:r>
            <a:endParaRPr lang="en-US" sz="36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7569200" y="6197600"/>
            <a:ext cx="3810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67085"/>
                </a:solidFill>
              </a:rPr>
              <a:t>Herança · 07</a:t>
            </a:r>
            <a:endParaRPr lang="en-US" sz="1200" dirty="0"/>
          </a:p>
        </p:txBody>
      </p:sp>
      <p:sp>
        <p:nvSpPr>
          <p:cNvPr id="5" name="anim|1|sobe|48"/>
          <p:cNvSpPr/>
          <p:nvPr/>
        </p:nvSpPr>
        <p:spPr>
          <a:xfrm>
            <a:off x="812800" y="1587500"/>
            <a:ext cx="6731000" cy="3175000"/>
          </a:xfrm>
          <a:prstGeom prst="roundRect">
            <a:avLst>
              <a:gd name="adj" fmla="val 4032"/>
            </a:avLst>
          </a:prstGeom>
          <a:solidFill>
            <a:srgbClr val="F1E7D0"/>
          </a:solidFill>
          <a:ln/>
        </p:spPr>
        <p:txBody>
          <a:bodyPr wrap="square" lIns="254000" tIns="330200" rIns="330200" bIns="25400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A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Cao(Animal):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A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ESPECIE = 'cao'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A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TAXA_ADOCAO = 80.0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A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A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def verificar_adotante(self, adotante):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D5F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super().verificar_adotante(adotante)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A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if self._porte == 'grande' and not adotante.mostrar_quintal():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A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    raise ValueError('cão de porte grande exige ...')</a:t>
            </a:r>
            <a:endParaRPr lang="en-US" sz="1200" dirty="0"/>
          </a:p>
        </p:txBody>
      </p:sp>
      <p:sp>
        <p:nvSpPr>
          <p:cNvPr id="6" name="anim|2|sobe|49"/>
          <p:cNvSpPr/>
          <p:nvPr/>
        </p:nvSpPr>
        <p:spPr>
          <a:xfrm>
            <a:off x="7747000" y="1587500"/>
            <a:ext cx="3632200" cy="1651000"/>
          </a:xfrm>
          <a:prstGeom prst="roundRect">
            <a:avLst>
              <a:gd name="adj" fmla="val 7754"/>
            </a:avLst>
          </a:prstGeom>
          <a:solidFill>
            <a:srgbClr val="DCE8F7"/>
          </a:solidFill>
          <a:ln/>
        </p:spPr>
        <p:txBody>
          <a:bodyPr wrap="square" lIns="254000" tIns="254000" rIns="254000" bIns="25400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b="1" spc="200" kern="0" dirty="0">
                <a:solidFill>
                  <a:srgbClr val="1D5FD1"/>
                </a:solidFill>
              </a:rPr>
              <a:t>SUPER()</a:t>
            </a:r>
            <a:endParaRPr lang="en-US" sz="1200" dirty="0"/>
          </a:p>
          <a:p>
            <a:pPr indent="0" marL="0">
              <a:buNone/>
            </a:pPr>
            <a:r>
              <a:rPr lang="en-US" sz="1600" dirty="0">
                <a:solidFill>
                  <a:srgbClr val="1E2A3B"/>
                </a:solidFill>
              </a:rPr>
              <a:t>Executa a verificação da classe Animal: se o animal está disponível e se o adotante ainda pode adotar.</a:t>
            </a:r>
            <a:endParaRPr lang="en-US" sz="1200" dirty="0"/>
          </a:p>
        </p:txBody>
      </p:sp>
      <p:sp>
        <p:nvSpPr>
          <p:cNvPr id="7" name="anim|3|sobe|50"/>
          <p:cNvSpPr/>
          <p:nvPr/>
        </p:nvSpPr>
        <p:spPr>
          <a:xfrm>
            <a:off x="7747000" y="3429000"/>
            <a:ext cx="3632200" cy="1333500"/>
          </a:xfrm>
          <a:prstGeom prst="roundRect">
            <a:avLst>
              <a:gd name="adj" fmla="val 9600"/>
            </a:avLst>
          </a:prstGeom>
          <a:solidFill>
            <a:srgbClr val="FDE7B0"/>
          </a:solidFill>
          <a:ln/>
        </p:spPr>
        <p:txBody>
          <a:bodyPr wrap="square" lIns="254000" tIns="254000" rIns="254000" bIns="25400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b="1" spc="200" kern="0" dirty="0">
                <a:solidFill>
                  <a:srgbClr val="8A3B06"/>
                </a:solidFill>
              </a:rPr>
              <a:t>SEM O SUPER()</a:t>
            </a:r>
            <a:endParaRPr lang="en-US" sz="1200" dirty="0"/>
          </a:p>
          <a:p>
            <a:pPr indent="0" marL="0">
              <a:buNone/>
            </a:pPr>
            <a:r>
              <a:rPr lang="en-US" sz="1600" dirty="0">
                <a:solidFill>
                  <a:srgbClr val="1E2A3B"/>
                </a:solidFill>
              </a:rPr>
              <a:t>Essas verificações não valeriam para cães.</a:t>
            </a:r>
            <a:endParaRPr lang="en-US" sz="1200" dirty="0"/>
          </a:p>
        </p:txBody>
      </p:sp>
      <p:sp>
        <p:nvSpPr>
          <p:cNvPr id="8" name="anim|4|sobe|51"/>
          <p:cNvSpPr txBox="1"/>
          <p:nvPr/>
        </p:nvSpPr>
        <p:spPr>
          <a:xfrm>
            <a:off x="812800" y="5016500"/>
            <a:ext cx="105664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A5568"/>
                </a:solidFill>
              </a:rPr>
              <a:t>A </a:t>
            </a:r>
            <a:pPr indent="0" marL="0">
              <a:buNone/>
            </a:pPr>
            <a:r>
              <a:rPr lang="en-US" sz="1600" b="1" dirty="0">
                <a:solidFill>
                  <a:srgbClr val="4A5568"/>
                </a:solidFill>
              </a:rPr>
              <a:t>descricao()</a:t>
            </a:r>
            <a:pPr indent="0" marL="0">
              <a:buNone/>
            </a:pPr>
            <a:r>
              <a:rPr lang="en-US" sz="1600" dirty="0">
                <a:solidFill>
                  <a:srgbClr val="4A5568"/>
                </a:solidFill>
              </a:rPr>
              <a:t> também usa </a:t>
            </a:r>
            <a:pPr indent="0" marL="0">
              <a:buNone/>
            </a:pPr>
            <a:r>
              <a:rPr lang="en-US" sz="1600" b="1" dirty="0">
                <a:solidFill>
                  <a:srgbClr val="4A5568"/>
                </a:solidFill>
              </a:rPr>
              <a:t>super()</a:t>
            </a:r>
            <a:pPr indent="0" marL="0">
              <a:buNone/>
            </a:pPr>
            <a:r>
              <a:rPr lang="en-US" sz="1600" dirty="0">
                <a:solidFill>
                  <a:srgbClr val="4A5568"/>
                </a:solidFill>
              </a:rPr>
              <a:t>: pega o texto da classe Animal e acrescenta a parte da espécie.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812800" y="762000"/>
            <a:ext cx="105664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2A3B"/>
                </a:solidFill>
              </a:rPr>
              <a:t>Polimorfismo</a:t>
            </a:r>
            <a:endParaRPr lang="en-US" sz="36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7569200" y="6197600"/>
            <a:ext cx="3810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67085"/>
                </a:solidFill>
              </a:rPr>
              <a:t>Polimorfismo · 08</a:t>
            </a:r>
            <a:endParaRPr lang="en-US" sz="1200" dirty="0"/>
          </a:p>
        </p:txBody>
      </p:sp>
      <p:sp>
        <p:nvSpPr>
          <p:cNvPr id="5" name="anim|1|sobe|52"/>
          <p:cNvSpPr/>
          <p:nvPr/>
        </p:nvSpPr>
        <p:spPr>
          <a:xfrm>
            <a:off x="812800" y="1587500"/>
            <a:ext cx="5207000" cy="2794000"/>
          </a:xfrm>
          <a:prstGeom prst="roundRect">
            <a:avLst>
              <a:gd name="adj" fmla="val 4582"/>
            </a:avLst>
          </a:prstGeom>
          <a:solidFill>
            <a:srgbClr val="F1E7D0"/>
          </a:solidFill>
          <a:ln/>
        </p:spPr>
        <p:txBody>
          <a:bodyPr wrap="square" lIns="254000" tIns="330200" rIns="330200" bIns="25400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8A3B06"/>
                </a:solidFill>
              </a:rPr>
              <a:t>app/models/animal.py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A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ESPECIES = {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A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'cao': Cao,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A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'gato': Gato,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A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A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classe = ESPECIES[a['especie']]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A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animal = classe(...)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A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animal.mostrar_taxa()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4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80.0 para Cao, 50.0 para Gato</a:t>
            </a:r>
            <a:endParaRPr lang="en-US" sz="1200" dirty="0"/>
          </a:p>
        </p:txBody>
      </p:sp>
      <p:sp>
        <p:nvSpPr>
          <p:cNvPr id="6" name="anim|2|sobe|53"/>
          <p:cNvSpPr/>
          <p:nvPr/>
        </p:nvSpPr>
        <p:spPr>
          <a:xfrm>
            <a:off x="6223000" y="1587500"/>
            <a:ext cx="5156200" cy="2794000"/>
          </a:xfrm>
          <a:prstGeom prst="roundRect">
            <a:avLst>
              <a:gd name="adj" fmla="val 4582"/>
            </a:avLst>
          </a:prstGeom>
          <a:solidFill>
            <a:srgbClr val="FFFDF8"/>
          </a:solidFill>
          <a:ln w="12700">
            <a:solidFill>
              <a:srgbClr val="E8DCC0"/>
            </a:solidFill>
          </a:ln>
        </p:spPr>
        <p:txBody>
          <a:bodyPr wrap="square" lIns="254000" tIns="330200" rIns="330200" bIns="25400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B45309"/>
                </a:solidFill>
              </a:rPr>
              <a:t>Sem polimorfismo, teria um if por espécie: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670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especie == 'cao':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670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taxa = 80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670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else:</a:t>
            </a:r>
            <a:endParaRPr lang="en-US" sz="1200" dirty="0"/>
          </a:p>
          <a:p>
            <a:pPr indent="0" marL="0">
              <a:lnSpc>
                <a:spcPct val="125000"/>
              </a:lnSpc>
              <a:spcAft>
                <a:spcPts val="1400"/>
              </a:spcAft>
              <a:buNone/>
            </a:pPr>
            <a:r>
              <a:rPr lang="en-US" sz="1200" dirty="0">
                <a:solidFill>
                  <a:srgbClr val="6670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taxa = 50</a:t>
            </a:r>
            <a:endParaRPr lang="en-US" sz="1200" dirty="0"/>
          </a:p>
          <a:p>
            <a:pPr indent="0" marL="0">
              <a:buNone/>
            </a:pPr>
            <a:r>
              <a:rPr lang="en-US" sz="1600" dirty="0">
                <a:solidFill>
                  <a:srgbClr val="1E2A3B"/>
                </a:solidFill>
              </a:rPr>
              <a:t>Para uma nova espécie, basta criar a classe em animal.py e incluir os dados no mock.</a:t>
            </a:r>
            <a:endParaRPr lang="en-US" sz="1200" dirty="0"/>
          </a:p>
        </p:txBody>
      </p:sp>
      <p:sp>
        <p:nvSpPr>
          <p:cNvPr id="7" name="anim|3|sobe|54"/>
          <p:cNvSpPr txBox="1"/>
          <p:nvPr/>
        </p:nvSpPr>
        <p:spPr>
          <a:xfrm>
            <a:off x="812800" y="4699000"/>
            <a:ext cx="105664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A5568"/>
                </a:solidFill>
              </a:rPr>
              <a:t>O projeto não tem nenhum if comparando tipo ou nome de classe, e o </a:t>
            </a:r>
            <a:pPr indent="0" marL="0">
              <a:buNone/>
            </a:pPr>
            <a:r>
              <a:rPr lang="en-US" sz="1600" b="1" dirty="0">
                <a:solidFill>
                  <a:srgbClr val="4A5568"/>
                </a:solidFill>
              </a:rPr>
              <a:t>verificar.py</a:t>
            </a:r>
            <a:pPr indent="0" marL="0">
              <a:buNone/>
            </a:pPr>
            <a:r>
              <a:rPr lang="en-US" sz="1600" dirty="0">
                <a:solidFill>
                  <a:srgbClr val="4A5568"/>
                </a:solidFill>
              </a:rPr>
              <a:t> confere isso.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812800" y="2413000"/>
            <a:ext cx="6604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1E2A3B"/>
                </a:solidFill>
              </a:rPr>
              <a:t>Obrigado</a:t>
            </a:r>
            <a:endParaRPr lang="en-US" sz="6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7569200" y="6197600"/>
            <a:ext cx="3810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4A12"/>
                </a:solidFill>
              </a:rPr>
              <a:t>Encerramento · 09</a:t>
            </a:r>
            <a:endParaRPr lang="en-US" sz="1200" dirty="0"/>
          </a:p>
        </p:txBody>
      </p:sp>
      <p:sp>
        <p:nvSpPr>
          <p:cNvPr id="5" name="anim|1|sobe|55"/>
          <p:cNvSpPr txBox="1"/>
          <p:nvPr/>
        </p:nvSpPr>
        <p:spPr>
          <a:xfrm>
            <a:off x="812800" y="3429000"/>
            <a:ext cx="660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E2A3B"/>
                </a:solidFill>
              </a:rPr>
              <a:t>Perguntas?</a:t>
            </a:r>
            <a:endParaRPr lang="en-US" sz="3600" dirty="0"/>
          </a:p>
        </p:txBody>
      </p:sp>
      <p:pic>
        <p:nvPicPr>
          <p:cNvPr id="6" name="anim|2|zoom|56" descr="Rover, o cachorro amarelo, lendo um livro vermelh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500" y="1574800"/>
            <a:ext cx="3048000" cy="3327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Adoção de Animais">
  <a:themeElements>
    <a:clrScheme name="Adoção de Animais">
      <a:dk1>
        <a:srgbClr val="1E2A3B"/>
      </a:dk1>
      <a:lt1>
        <a:srgbClr val="FBF7EE"/>
      </a:lt1>
      <a:dk2>
        <a:srgbClr val="4A5568"/>
      </a:dk2>
      <a:lt2>
        <a:srgbClr val="EEF4FB"/>
      </a:lt2>
      <a:accent1>
        <a:srgbClr val="B45309"/>
      </a:accent1>
      <a:accent2>
        <a:srgbClr val="1D5FD1"/>
      </a:accent2>
      <a:accent3>
        <a:srgbClr val="FDE7B0"/>
      </a:accent3>
      <a:accent4>
        <a:srgbClr val="F1E7D0"/>
      </a:accent4>
      <a:accent5>
        <a:srgbClr val="FFD966"/>
      </a:accent5>
      <a:accent6>
        <a:srgbClr val="E8DCC0"/>
      </a:accent6>
      <a:hlink>
        <a:srgbClr val="1D5FD1"/>
      </a:hlink>
      <a:folHlink>
        <a:srgbClr val="8A3B06"/>
      </a:folHlink>
    </a:clrScheme>
    <a:fontScheme name="Adoção de Animais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Adoção de Animais</dc:title>
  <dc:subject>PptxGenJS Presentation</dc:subject>
  <dc:creator>PptxGenJS</dc:creator>
  <cp:lastModifiedBy>PptxGenJS</cp:lastModifiedBy>
  <cp:revision>1</cp:revision>
  <dcterms:created xsi:type="dcterms:W3CDTF">2026-10-08T23:35:25Z</dcterms:created>
  <dcterms:modified xsi:type="dcterms:W3CDTF">2026-10-08T23:35:25Z</dcterms:modified>
</cp:coreProperties>
</file>